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Open Sans" panose="020B0606030504020204" pitchFamily="34" charset="0"/>
      <p:regular r:id="rId13"/>
    </p:embeddedFont>
    <p:embeddedFont>
      <p:font typeface="Unbounded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font" Target="fonts/font1.fntdata" /><Relationship Id="rId18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notesMaster" Target="notesMasters/notesMaster1.xml" /><Relationship Id="rId17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presProps" Target="pres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font" Target="fonts/font2.fntdata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8D0843-8F61-E145-B104-9B788C905C46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AC25E2-F452-C548-B397-CF718349C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918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3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4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5.xml" /><Relationship Id="rId6" Type="http://schemas.openxmlformats.org/officeDocument/2006/relationships/image" Target="../media/image8.svg" /><Relationship Id="rId5" Type="http://schemas.openxmlformats.org/officeDocument/2006/relationships/image" Target="../media/image7.svg" /><Relationship Id="rId4" Type="http://schemas.openxmlformats.org/officeDocument/2006/relationships/image" Target="../media/image6.sv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6.xml" /><Relationship Id="rId5" Type="http://schemas.openxmlformats.org/officeDocument/2006/relationships/image" Target="../media/image11.png" /><Relationship Id="rId4" Type="http://schemas.openxmlformats.org/officeDocument/2006/relationships/image" Target="../media/image10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 /><Relationship Id="rId7" Type="http://schemas.openxmlformats.org/officeDocument/2006/relationships/image" Target="../media/image16.sv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15.svg" /><Relationship Id="rId5" Type="http://schemas.openxmlformats.org/officeDocument/2006/relationships/image" Target="../media/image14.svg" /><Relationship Id="rId4" Type="http://schemas.openxmlformats.org/officeDocument/2006/relationships/image" Target="../media/image13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8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9.xml" /><Relationship Id="rId5" Type="http://schemas.openxmlformats.org/officeDocument/2006/relationships/image" Target="../media/image20.svg" /><Relationship Id="rId4" Type="http://schemas.openxmlformats.org/officeDocument/2006/relationships/image" Target="../media/image19.sv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0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1.xml" /><Relationship Id="rId4" Type="http://schemas.openxmlformats.org/officeDocument/2006/relationships/image" Target="../media/image23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6F5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7348" y="608290"/>
            <a:ext cx="5259586" cy="701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2359343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Mastering Workplace Communication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482584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Impactful Data · Compelling Stories · Confident Q&amp;A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93790" y="5443895"/>
            <a:ext cx="2939177" cy="426244"/>
          </a:xfrm>
          <a:prstGeom prst="roundRect">
            <a:avLst>
              <a:gd name="adj" fmla="val 17880"/>
            </a:avLst>
          </a:prstGeom>
          <a:solidFill>
            <a:srgbClr val="D6F5EE"/>
          </a:solidFill>
          <a:ln/>
        </p:spPr>
      </p:sp>
      <p:sp>
        <p:nvSpPr>
          <p:cNvPr id="7" name="Text 4"/>
          <p:cNvSpPr/>
          <p:nvPr/>
        </p:nvSpPr>
        <p:spPr>
          <a:xfrm>
            <a:off x="929878" y="5511879"/>
            <a:ext cx="266700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COMMUNICATION EXCELLENCE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6F5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79" y="589478"/>
            <a:ext cx="5287923" cy="70506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181011" y="609719"/>
            <a:ext cx="7754779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Effective Communication at Work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6181011" y="2110264"/>
            <a:ext cx="7754779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Foundations for Success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181011" y="2603183"/>
            <a:ext cx="7754779" cy="1123950"/>
          </a:xfrm>
          <a:prstGeom prst="roundRect">
            <a:avLst>
              <a:gd name="adj" fmla="val 7417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386989" y="280916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Clarity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6386989" y="3223498"/>
            <a:ext cx="734282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Say more with fewer words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181011" y="3900726"/>
            <a:ext cx="7754779" cy="1123950"/>
          </a:xfrm>
          <a:prstGeom prst="roundRect">
            <a:avLst>
              <a:gd name="adj" fmla="val 7417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86989" y="410670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Confidence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6386989" y="4521041"/>
            <a:ext cx="734282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Own the room, own the message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6181011" y="5198269"/>
            <a:ext cx="7754779" cy="1123950"/>
          </a:xfrm>
          <a:prstGeom prst="roundRect">
            <a:avLst>
              <a:gd name="adj" fmla="val 7417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86989" y="540424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Connection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6386989" y="5818584"/>
            <a:ext cx="734282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Make every conversation count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6181011" y="6495812"/>
            <a:ext cx="7754779" cy="1123950"/>
          </a:xfrm>
          <a:prstGeom prst="roundRect">
            <a:avLst>
              <a:gd name="adj" fmla="val 7417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86989" y="670179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Consistency</a:t>
            </a:r>
            <a:endParaRPr lang="en-US" sz="1950" dirty="0"/>
          </a:p>
        </p:txBody>
      </p:sp>
      <p:sp>
        <p:nvSpPr>
          <p:cNvPr id="17" name="Text 14"/>
          <p:cNvSpPr/>
          <p:nvPr/>
        </p:nvSpPr>
        <p:spPr>
          <a:xfrm>
            <a:off x="6386989" y="7116128"/>
            <a:ext cx="734282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 trust through reliability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66775"/>
            <a:ext cx="1255514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Active Listening &amp; Clear Messaging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2918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Building Strong Connections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902387"/>
            <a:ext cx="4205168" cy="42051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59981" y="313682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Listen First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559981" y="3717965"/>
            <a:ext cx="8284131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Maintain eye contact and open body language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Pause before responding — reflect, don't react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Ask clarifying questions to confirm understanding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559981" y="5192078"/>
            <a:ext cx="354127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Speak with Purpose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559981" y="5773222"/>
            <a:ext cx="8284131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Lead with your key message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simple, direct language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Confirm your message was received clearly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44435"/>
            <a:ext cx="1027759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Presenting Data with Impact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30684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Beyond Just Numbers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3924895"/>
            <a:ext cx="566976" cy="566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4253" y="3924895"/>
            <a:ext cx="35874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Know Your Audience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644253" y="4415314"/>
            <a:ext cx="55291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Tailor complexity to who is in the room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6884" y="3924895"/>
            <a:ext cx="566976" cy="5669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307348" y="3924895"/>
            <a:ext cx="420493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Choose the Right Visual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8307348" y="4415314"/>
            <a:ext cx="55292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Match chart type to the story you're telling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790" y="5231844"/>
            <a:ext cx="566976" cy="5669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644253" y="5231844"/>
            <a:ext cx="306585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Lead with Insight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1644253" y="5722263"/>
            <a:ext cx="55291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Don't show data — show what it means</a:t>
            </a:r>
            <a:endParaRPr lang="en-US" sz="17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6884" y="5231844"/>
            <a:ext cx="566976" cy="56697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307348" y="52318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Drive Action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8307348" y="5722263"/>
            <a:ext cx="55292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 slide should answer: "So what?"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46014" y="556379"/>
            <a:ext cx="7428190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Visualising Data Effectively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1446014" y="1343144"/>
            <a:ext cx="1173825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Making Complex Simple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6014" y="1868210"/>
            <a:ext cx="5661541" cy="5661541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6014" y="1868210"/>
            <a:ext cx="5661541" cy="566154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530227" y="3575447"/>
            <a:ext cx="3239214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Golden Rules of Data Viz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7530227" y="3968710"/>
            <a:ext cx="5661541" cy="1086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Remove all chart junk — less is more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colour to </a:t>
            </a:r>
            <a:r>
              <a:rPr lang="en-US" sz="13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guide attention</a:t>
            </a: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not decorate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Label directly — avoid legends where possible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One chart, one message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7530227" y="5198626"/>
            <a:ext cx="5661541" cy="607933"/>
          </a:xfrm>
          <a:prstGeom prst="roundRect">
            <a:avLst>
              <a:gd name="adj" fmla="val 11753"/>
            </a:avLst>
          </a:prstGeom>
          <a:solidFill>
            <a:srgbClr val="B6D6FC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0248" y="5445204"/>
            <a:ext cx="212646" cy="17002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82915" y="5368647"/>
            <a:ext cx="4938832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confused audience remembers nothing. Simplify ruthlessly.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6F5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90" y="601147"/>
            <a:ext cx="5270302" cy="70271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43042" y="619244"/>
            <a:ext cx="7630716" cy="1351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Crafting a Data Narrative</a:t>
            </a:r>
            <a:endParaRPr lang="en-US" sz="4250" dirty="0"/>
          </a:p>
        </p:txBody>
      </p:sp>
      <p:sp>
        <p:nvSpPr>
          <p:cNvPr id="5" name="Text 2"/>
          <p:cNvSpPr/>
          <p:nvPr/>
        </p:nvSpPr>
        <p:spPr>
          <a:xfrm>
            <a:off x="6243042" y="2279690"/>
            <a:ext cx="7630716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From Insights to Action</a:t>
            </a:r>
            <a:endParaRPr lang="en-US" sz="1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6482" y="2849285"/>
            <a:ext cx="5923717" cy="3515797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68785" y="3708604"/>
            <a:ext cx="504287" cy="50428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219496" y="5407741"/>
            <a:ext cx="1472522" cy="567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Drive Decision</a:t>
            </a:r>
            <a:endParaRPr lang="en-US" sz="17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22615" y="3709549"/>
            <a:ext cx="504289" cy="50428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363713" y="5407741"/>
            <a:ext cx="1472523" cy="567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Frame Story</a:t>
            </a:r>
            <a:endParaRPr lang="en-US" sz="17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66834" y="3709549"/>
            <a:ext cx="504288" cy="50428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7477674" y="5407741"/>
            <a:ext cx="1472523" cy="567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Find Insight</a:t>
            </a:r>
            <a:endParaRPr lang="en-US" sz="1750" dirty="0"/>
          </a:p>
        </p:txBody>
      </p:sp>
      <p:sp>
        <p:nvSpPr>
          <p:cNvPr id="13" name="Text 6"/>
          <p:cNvSpPr/>
          <p:nvPr/>
        </p:nvSpPr>
        <p:spPr>
          <a:xfrm>
            <a:off x="6243042" y="6596896"/>
            <a:ext cx="7630716" cy="1013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without a narrative is noise. Structure your findings as a story — context, conflict, and resolution — so your audience moves from understanding to action.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6F5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7348" y="608290"/>
            <a:ext cx="5259586" cy="701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64817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Storytelling in Business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240589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Engaging Your Audience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93790" y="3023949"/>
            <a:ext cx="7556421" cy="1367909"/>
          </a:xfrm>
          <a:prstGeom prst="roundRect">
            <a:avLst>
              <a:gd name="adj" fmla="val 10695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63310" y="3023949"/>
            <a:ext cx="121920" cy="1367909"/>
          </a:xfrm>
          <a:prstGeom prst="roundRect">
            <a:avLst>
              <a:gd name="adj" fmla="val 78139"/>
            </a:avLst>
          </a:prstGeom>
          <a:solidFill>
            <a:srgbClr val="26A688"/>
          </a:solidFill>
          <a:ln/>
        </p:spPr>
      </p:sp>
      <p:sp>
        <p:nvSpPr>
          <p:cNvPr id="8" name="Text 5"/>
          <p:cNvSpPr/>
          <p:nvPr/>
        </p:nvSpPr>
        <p:spPr>
          <a:xfrm>
            <a:off x="1142524" y="32812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Set the Scene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142524" y="3771662"/>
            <a:ext cx="69503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Establish context — who, what, and why it matters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4618673"/>
            <a:ext cx="7556421" cy="1367909"/>
          </a:xfrm>
          <a:prstGeom prst="roundRect">
            <a:avLst>
              <a:gd name="adj" fmla="val 10695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3310" y="4618673"/>
            <a:ext cx="121920" cy="1367909"/>
          </a:xfrm>
          <a:prstGeom prst="roundRect">
            <a:avLst>
              <a:gd name="adj" fmla="val 78139"/>
            </a:avLst>
          </a:prstGeom>
          <a:solidFill>
            <a:srgbClr val="26A688"/>
          </a:solidFill>
          <a:ln/>
        </p:spPr>
      </p:sp>
      <p:sp>
        <p:nvSpPr>
          <p:cNvPr id="12" name="Text 9"/>
          <p:cNvSpPr/>
          <p:nvPr/>
        </p:nvSpPr>
        <p:spPr>
          <a:xfrm>
            <a:off x="1142524" y="4875967"/>
            <a:ext cx="38408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Introduce the Tension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142524" y="5366385"/>
            <a:ext cx="69503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challenge or gap that demands attention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793790" y="6213396"/>
            <a:ext cx="7556421" cy="1367909"/>
          </a:xfrm>
          <a:prstGeom prst="roundRect">
            <a:avLst>
              <a:gd name="adj" fmla="val 10695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63310" y="6213396"/>
            <a:ext cx="121920" cy="1367909"/>
          </a:xfrm>
          <a:prstGeom prst="roundRect">
            <a:avLst>
              <a:gd name="adj" fmla="val 78139"/>
            </a:avLst>
          </a:prstGeom>
          <a:solidFill>
            <a:srgbClr val="26A688"/>
          </a:solidFill>
          <a:ln/>
        </p:spPr>
      </p:sp>
      <p:sp>
        <p:nvSpPr>
          <p:cNvPr id="16" name="Text 13"/>
          <p:cNvSpPr/>
          <p:nvPr/>
        </p:nvSpPr>
        <p:spPr>
          <a:xfrm>
            <a:off x="1142524" y="6470690"/>
            <a:ext cx="36079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Resolve with Impact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1142524" y="6961108"/>
            <a:ext cx="69503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solution — backed by evidence and emotion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407" y="614005"/>
            <a:ext cx="8073390" cy="697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The Power of Narrative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781407" y="1751290"/>
            <a:ext cx="1306758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Connecting Emotion with Information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1116330" y="2599968"/>
            <a:ext cx="592657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"Facts tell. Stories sell. The best business communicators do both."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81407" y="2599968"/>
            <a:ext cx="30480" cy="70866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6" name="Text 4"/>
          <p:cNvSpPr/>
          <p:nvPr/>
        </p:nvSpPr>
        <p:spPr>
          <a:xfrm>
            <a:off x="781407" y="3555802"/>
            <a:ext cx="6261497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People remember stories </a:t>
            </a:r>
            <a:r>
              <a:rPr lang="en-US" sz="1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22x more</a:t>
            </a: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than facts alone. Pair your data with a human moment — a customer, a challenge, a turning point.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595116" y="2599968"/>
            <a:ext cx="3020854" cy="2274332"/>
          </a:xfrm>
          <a:prstGeom prst="roundRect">
            <a:avLst>
              <a:gd name="adj" fmla="val 4123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25978" y="2830830"/>
            <a:ext cx="669846" cy="669846"/>
          </a:xfrm>
          <a:prstGeom prst="roundRect">
            <a:avLst>
              <a:gd name="adj" fmla="val 13649534"/>
            </a:avLst>
          </a:prstGeom>
          <a:solidFill>
            <a:srgbClr val="26A688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10168" y="3015020"/>
            <a:ext cx="301347" cy="30134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825978" y="3720465"/>
            <a:ext cx="2559129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Emotion</a:t>
            </a:r>
            <a:endParaRPr lang="en-US" sz="2150" dirty="0"/>
          </a:p>
        </p:txBody>
      </p:sp>
      <p:sp>
        <p:nvSpPr>
          <p:cNvPr id="11" name="Text 8"/>
          <p:cNvSpPr/>
          <p:nvPr/>
        </p:nvSpPr>
        <p:spPr>
          <a:xfrm>
            <a:off x="7825978" y="4289108"/>
            <a:ext cx="25591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Makes it memorable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10835759" y="2599968"/>
            <a:ext cx="3020854" cy="2274332"/>
          </a:xfrm>
          <a:prstGeom prst="roundRect">
            <a:avLst>
              <a:gd name="adj" fmla="val 4123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066621" y="2830830"/>
            <a:ext cx="669846" cy="669846"/>
          </a:xfrm>
          <a:prstGeom prst="roundRect">
            <a:avLst>
              <a:gd name="adj" fmla="val 13649534"/>
            </a:avLst>
          </a:prstGeom>
          <a:solidFill>
            <a:srgbClr val="26A688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50811" y="3015020"/>
            <a:ext cx="301347" cy="30134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066621" y="3720465"/>
            <a:ext cx="2559129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Evidence</a:t>
            </a:r>
            <a:endParaRPr lang="en-US" sz="2150" dirty="0"/>
          </a:p>
        </p:txBody>
      </p:sp>
      <p:sp>
        <p:nvSpPr>
          <p:cNvPr id="16" name="Text 12"/>
          <p:cNvSpPr/>
          <p:nvPr/>
        </p:nvSpPr>
        <p:spPr>
          <a:xfrm>
            <a:off x="11066621" y="4289108"/>
            <a:ext cx="25591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Makes it credible</a:t>
            </a:r>
            <a:endParaRPr lang="en-US" sz="1750" dirty="0"/>
          </a:p>
        </p:txBody>
      </p:sp>
      <p:sp>
        <p:nvSpPr>
          <p:cNvPr id="17" name="Shape 13"/>
          <p:cNvSpPr/>
          <p:nvPr/>
        </p:nvSpPr>
        <p:spPr>
          <a:xfrm>
            <a:off x="7595116" y="5094089"/>
            <a:ext cx="6261497" cy="2274332"/>
          </a:xfrm>
          <a:prstGeom prst="roundRect">
            <a:avLst>
              <a:gd name="adj" fmla="val 4123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825978" y="5324951"/>
            <a:ext cx="669846" cy="669846"/>
          </a:xfrm>
          <a:prstGeom prst="roundRect">
            <a:avLst>
              <a:gd name="adj" fmla="val 13649534"/>
            </a:avLst>
          </a:prstGeom>
          <a:solidFill>
            <a:srgbClr val="26A688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10168" y="5509141"/>
            <a:ext cx="301347" cy="30134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825978" y="6214586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Direction</a:t>
            </a:r>
            <a:endParaRPr lang="en-US" sz="2150" dirty="0"/>
          </a:p>
        </p:txBody>
      </p:sp>
      <p:sp>
        <p:nvSpPr>
          <p:cNvPr id="21" name="Text 16"/>
          <p:cNvSpPr/>
          <p:nvPr/>
        </p:nvSpPr>
        <p:spPr>
          <a:xfrm>
            <a:off x="7825978" y="6783229"/>
            <a:ext cx="579977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Makes it actionable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6F5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93" y="587097"/>
            <a:ext cx="5291495" cy="705540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168628" y="550664"/>
            <a:ext cx="7779544" cy="1218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Handling Tough Q&amp;A Sessions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6168628" y="2020133"/>
            <a:ext cx="7779544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Confidence Under Pressure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168628" y="2498408"/>
            <a:ext cx="779621" cy="1169551"/>
          </a:xfrm>
          <a:prstGeom prst="roundRect">
            <a:avLst>
              <a:gd name="adj" fmla="val 360046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12230" y="2900482"/>
            <a:ext cx="292298" cy="3654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7115651" y="2693313"/>
            <a:ext cx="2527459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Pause &amp; Breathe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115651" y="3098363"/>
            <a:ext cx="6832521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Buy time. Think before you speak.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168628" y="3835360"/>
            <a:ext cx="779621" cy="1169551"/>
          </a:xfrm>
          <a:prstGeom prst="roundRect">
            <a:avLst>
              <a:gd name="adj" fmla="val 360046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12230" y="4237434"/>
            <a:ext cx="292298" cy="3654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7115651" y="4030266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Acknowledge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7115651" y="4435316"/>
            <a:ext cx="6832521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Validate the question — never dismiss it.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168628" y="5172313"/>
            <a:ext cx="779621" cy="1169551"/>
          </a:xfrm>
          <a:prstGeom prst="roundRect">
            <a:avLst>
              <a:gd name="adj" fmla="val 360046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12230" y="5574387"/>
            <a:ext cx="292298" cy="3654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3</a:t>
            </a:r>
            <a:endParaRPr lang="en-US" sz="2300" dirty="0"/>
          </a:p>
        </p:txBody>
      </p:sp>
      <p:sp>
        <p:nvSpPr>
          <p:cNvPr id="16" name="Text 13"/>
          <p:cNvSpPr/>
          <p:nvPr/>
        </p:nvSpPr>
        <p:spPr>
          <a:xfrm>
            <a:off x="7115651" y="5367218"/>
            <a:ext cx="3654385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Respond with Structure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7115651" y="5772269"/>
            <a:ext cx="6832521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Short answer first, then context.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168628" y="6509266"/>
            <a:ext cx="779621" cy="1169551"/>
          </a:xfrm>
          <a:prstGeom prst="roundRect">
            <a:avLst>
              <a:gd name="adj" fmla="val 360046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12230" y="6911340"/>
            <a:ext cx="292298" cy="3654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4</a:t>
            </a:r>
            <a:endParaRPr lang="en-US" sz="2300" dirty="0"/>
          </a:p>
        </p:txBody>
      </p:sp>
      <p:sp>
        <p:nvSpPr>
          <p:cNvPr id="20" name="Text 17"/>
          <p:cNvSpPr/>
          <p:nvPr/>
        </p:nvSpPr>
        <p:spPr>
          <a:xfrm>
            <a:off x="7115651" y="6704171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Stay in Control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7115651" y="7109222"/>
            <a:ext cx="6832521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Bridge back to your key message.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1163"/>
            <a:ext cx="1191279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Strategies for Difficult Questions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89357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Remain Poised and Professional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902387"/>
            <a:ext cx="4205168" cy="42051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59981" y="2738437"/>
            <a:ext cx="38513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When You Don't Know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559981" y="3319582"/>
            <a:ext cx="82841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"That's a great point — let me follow up with specifics."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559981" y="3909298"/>
            <a:ext cx="426362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When You're Challenged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559981" y="4490442"/>
            <a:ext cx="82841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Agree on the goal, disagree on the approach — calmly.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5559981" y="5080159"/>
            <a:ext cx="362950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When It Gets Hostile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559981" y="5661303"/>
            <a:ext cx="82841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Lower your voice. Slow your pace. Defuse, don't escalate.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5559981" y="6279356"/>
            <a:ext cx="8284131" cy="963811"/>
          </a:xfrm>
          <a:prstGeom prst="roundRect">
            <a:avLst>
              <a:gd name="adj" fmla="val 9884"/>
            </a:avLst>
          </a:prstGeom>
          <a:solidFill>
            <a:srgbClr val="B6FCB8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6795" y="6631067"/>
            <a:ext cx="283488" cy="22681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297097" y="6562844"/>
            <a:ext cx="732020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Poise under pressure is the hallmark of a master communicator.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Mullur, Ishwarappa (Contractor)</cp:lastModifiedBy>
  <cp:revision>2</cp:revision>
  <dcterms:created xsi:type="dcterms:W3CDTF">2026-04-30T04:45:35Z</dcterms:created>
  <dcterms:modified xsi:type="dcterms:W3CDTF">2026-04-30T04:55:04Z</dcterms:modified>
</cp:coreProperties>
</file>